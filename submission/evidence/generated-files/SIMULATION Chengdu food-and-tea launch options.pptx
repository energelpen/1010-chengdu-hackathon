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100">
                <a:solidFill>
                  <a:srgbClr val="487B6C"/>
                </a:solidFill>
                <a:latin typeface="Aptos"/>
              </a:defRPr>
            </a:pPr>
            <a:r>
              <a:t>ATLAS / COMPANY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3400">
                <a:solidFill>
                  <a:srgbClr val="193F35"/>
                </a:solidFill>
                <a:latin typeface="Aptos"/>
              </a:defRPr>
            </a:pPr>
            <a:r>
              <a:t>SIMULATION Chengdu food-and-tea launch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394C46"/>
                </a:solidFill>
                <a:latin typeface="Aptos"/>
              </a:defRPr>
            </a:pPr>
            <a:r>
              <a:t>• Prepared with Atlas · Company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>
                <a:solidFill>
                  <a:srgbClr val="487B6C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100">
                <a:solidFill>
                  <a:srgbClr val="487B6C"/>
                </a:solidFill>
                <a:latin typeface="Aptos"/>
              </a:defRPr>
            </a:pPr>
            <a:r>
              <a:t>ATLAS / COMPANY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3400">
                <a:solidFill>
                  <a:srgbClr val="193F35"/>
                </a:solidFill>
                <a:latin typeface="Aptos"/>
              </a:defRPr>
            </a:pPr>
            <a:r>
              <a:t>Decision to make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394C46"/>
                </a:solidFill>
                <a:latin typeface="Aptos"/>
              </a:defRPr>
            </a:pPr>
            <a:r>
              <a:t>• Select a local-only simulated launch for 30 guests; preparation starts 2026-10-01. Fictional one-day premium food workshop and tea tasting, CNY 2,000 per guest, CNY 60,000 revenue. Costs are total first-departure envelopes, not additional to operating costs. No supplier claims, bookings, payments or contacts. Excludes flights, lodging, tax and financing; not a real launch approval.</a:t>
            </a:r>
          </a:p>
          <a:p>
            <a:pPr>
              <a:spcAft>
                <a:spcPts val="1500"/>
              </a:spcAft>
              <a:defRPr sz="2200">
                <a:solidFill>
                  <a:srgbClr val="394C46"/>
                </a:solidFill>
                <a:latin typeface="Aptos"/>
              </a:defRPr>
            </a:pPr>
            <a:r>
              <a:t>• Audience: Chen, Director — simulation executive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>
                <a:solidFill>
                  <a:srgbClr val="487B6C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100">
                <a:solidFill>
                  <a:srgbClr val="487B6C"/>
                </a:solidFill>
                <a:latin typeface="Aptos"/>
              </a:defRPr>
            </a:pPr>
            <a:r>
              <a:t>ATLAS / COMPANY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3400">
                <a:solidFill>
                  <a:srgbClr val="193F35"/>
                </a:solidFill>
                <a:latin typeface="Aptos"/>
              </a:defRPr>
            </a:pPr>
            <a:r>
              <a:t>Options compared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394C46"/>
                </a:solidFill>
                <a:latin typeface="Aptos"/>
              </a:defRPr>
            </a:pPr>
            <a:r>
              <a:t>• SIMULATION Pilot — 30 guests: 50,000 CNY; score 73.5/100</a:t>
            </a:r>
          </a:p>
          <a:p>
            <a:pPr>
              <a:spcAft>
                <a:spcPts val="1500"/>
              </a:spcAft>
              <a:defRPr sz="2200">
                <a:solidFill>
                  <a:srgbClr val="394C46"/>
                </a:solidFill>
                <a:latin typeface="Aptos"/>
              </a:defRPr>
            </a:pPr>
            <a:r>
              <a:t>• SIMULATION Full launch — 30 initial guests: 120,000 CNY; score 52.0/100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>
                <a:solidFill>
                  <a:srgbClr val="487B6C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100">
                <a:solidFill>
                  <a:srgbClr val="487B6C"/>
                </a:solidFill>
                <a:latin typeface="Aptos"/>
              </a:defRPr>
            </a:pPr>
            <a:r>
              <a:t>ATLAS / COMPANY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3400">
                <a:solidFill>
                  <a:srgbClr val="193F35"/>
                </a:solidFill>
                <a:latin typeface="Aptos"/>
              </a:defRPr>
            </a:pPr>
            <a:r>
              <a:t>Recommended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394C46"/>
                </a:solidFill>
                <a:latin typeface="Aptos"/>
              </a:defRPr>
            </a:pPr>
            <a:r>
              <a:t>• SIMULATION Pilot — 30 guests</a:t>
            </a:r>
          </a:p>
          <a:p>
            <a:pPr>
              <a:spcAft>
                <a:spcPts val="1500"/>
              </a:spcAft>
              <a:defRPr sz="2200">
                <a:solidFill>
                  <a:srgbClr val="394C46"/>
                </a:solidFill>
                <a:latin typeface="Aptos"/>
              </a:defRPr>
            </a:pPr>
            <a:r>
              <a:t>• Validate service and demand at CNY 10,000 planned pre-tax operating profit; total budget includes CNY 24,000 guest costs and CNY 26,000 fixed/reserve costs.</a:t>
            </a:r>
          </a:p>
          <a:p>
            <a:pPr>
              <a:spcAft>
                <a:spcPts val="1500"/>
              </a:spcAft>
              <a:defRPr sz="2200">
                <a:solidFill>
                  <a:srgbClr val="394C46"/>
                </a:solidFill>
                <a:latin typeface="Aptos"/>
              </a:defRPr>
            </a:pPr>
            <a:r>
              <a:t>• Risk: Limited reach; ratings are invented assumptions, not market evidence. CNY 5,000 contingency included in envelope.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>
                <a:solidFill>
                  <a:srgbClr val="487B6C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100">
                <a:solidFill>
                  <a:srgbClr val="487B6C"/>
                </a:solidFill>
                <a:latin typeface="Aptos"/>
              </a:defRPr>
            </a:pPr>
            <a:r>
              <a:t>ATLAS / COMPANY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3400">
                <a:solidFill>
                  <a:srgbClr val="193F35"/>
                </a:solidFill>
                <a:latin typeface="Aptos"/>
              </a:defRPr>
            </a:pPr>
            <a:r>
              <a:t>Approval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394C46"/>
                </a:solidFill>
                <a:latin typeface="Aptos"/>
              </a:defRPr>
            </a:pPr>
            <a:r>
              <a:t>• Validate assumptions and budget</a:t>
            </a:r>
          </a:p>
          <a:p>
            <a:pPr>
              <a:spcAft>
                <a:spcPts val="1500"/>
              </a:spcAft>
              <a:defRPr sz="2200">
                <a:solidFill>
                  <a:srgbClr val="394C46"/>
                </a:solidFill>
                <a:latin typeface="Aptos"/>
              </a:defRPr>
            </a:pPr>
            <a:r>
              <a:t>• Assign owner and due date</a:t>
            </a:r>
          </a:p>
          <a:p>
            <a:pPr>
              <a:spcAft>
                <a:spcPts val="1500"/>
              </a:spcAft>
              <a:defRPr sz="2200">
                <a:solidFill>
                  <a:srgbClr val="394C46"/>
                </a:solidFill>
                <a:latin typeface="Aptos"/>
              </a:defRPr>
            </a:pPr>
            <a:r>
              <a:t>• Approve before external commitments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>
                <a:solidFill>
                  <a:srgbClr val="487B6C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