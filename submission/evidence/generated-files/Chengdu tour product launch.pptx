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100">
                <a:solidFill>
                  <a:srgbClr val="487B6C"/>
                </a:solidFill>
                <a:latin typeface="Aptos"/>
              </a:defRPr>
            </a:pPr>
            <a:r>
              <a:t>ATLAS / COMPANY WORKSPACE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3400">
                <a:solidFill>
                  <a:srgbClr val="193F35"/>
                </a:solidFill>
                <a:latin typeface="Aptos"/>
              </a:defRPr>
            </a:pPr>
            <a:r>
              <a:t>Chengdu tour product launch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200">
                <a:solidFill>
                  <a:srgbClr val="394C46"/>
                </a:solidFill>
                <a:latin typeface="Aptos"/>
              </a:defRPr>
            </a:pPr>
            <a:r>
              <a:t>• Prepared with Atlas · Company workspace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008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000">
                <a:solidFill>
                  <a:srgbClr val="487B6C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100">
                <a:solidFill>
                  <a:srgbClr val="487B6C"/>
                </a:solidFill>
                <a:latin typeface="Aptos"/>
              </a:defRPr>
            </a:pPr>
            <a:r>
              <a:t>ATLAS / COMPANY WORKSPACE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3400">
                <a:solidFill>
                  <a:srgbClr val="193F35"/>
                </a:solidFill>
                <a:latin typeface="Aptos"/>
              </a:defRPr>
            </a:pPr>
            <a:r>
              <a:t>Decision to make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200">
                <a:solidFill>
                  <a:srgbClr val="394C46"/>
                </a:solidFill>
                <a:latin typeface="Aptos"/>
              </a:defRPr>
            </a:pPr>
            <a:r>
              <a:t>• Choose a launch approach for a Chengdu food and tea group-tour product.</a:t>
            </a:r>
          </a:p>
          <a:p>
            <a:pPr>
              <a:spcAft>
                <a:spcPts val="1500"/>
              </a:spcAft>
              <a:defRPr sz="2200">
                <a:solidFill>
                  <a:srgbClr val="394C46"/>
                </a:solidFill>
                <a:latin typeface="Aptos"/>
              </a:defRPr>
            </a:pPr>
            <a:r>
              <a:t>• Audience: Executive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008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000">
                <a:solidFill>
                  <a:srgbClr val="487B6C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100">
                <a:solidFill>
                  <a:srgbClr val="487B6C"/>
                </a:solidFill>
                <a:latin typeface="Aptos"/>
              </a:defRPr>
            </a:pPr>
            <a:r>
              <a:t>ATLAS / COMPANY WORKSPACE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3400">
                <a:solidFill>
                  <a:srgbClr val="193F35"/>
                </a:solidFill>
                <a:latin typeface="Aptos"/>
              </a:defRPr>
            </a:pPr>
            <a:r>
              <a:t>Options compared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200">
                <a:solidFill>
                  <a:srgbClr val="394C46"/>
                </a:solidFill>
                <a:latin typeface="Aptos"/>
              </a:defRPr>
            </a:pPr>
            <a:r>
              <a:t>• Pilot first: 50,000 CNY; score 75.7/100</a:t>
            </a:r>
          </a:p>
          <a:p>
            <a:pPr>
              <a:spcAft>
                <a:spcPts val="1500"/>
              </a:spcAft>
              <a:defRPr sz="2200">
                <a:solidFill>
                  <a:srgbClr val="394C46"/>
                </a:solidFill>
                <a:latin typeface="Aptos"/>
              </a:defRPr>
            </a:pPr>
            <a:r>
              <a:t>• Full launch: 120,000 CNY; score 62.0/100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008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000">
                <a:solidFill>
                  <a:srgbClr val="487B6C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100">
                <a:solidFill>
                  <a:srgbClr val="487B6C"/>
                </a:solidFill>
                <a:latin typeface="Aptos"/>
              </a:defRPr>
            </a:pPr>
            <a:r>
              <a:t>ATLAS / COMPANY WORKSPACE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3400">
                <a:solidFill>
                  <a:srgbClr val="193F35"/>
                </a:solidFill>
                <a:latin typeface="Aptos"/>
              </a:defRPr>
            </a:pPr>
            <a:r>
              <a:t>Recommended direction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200">
                <a:solidFill>
                  <a:srgbClr val="394C46"/>
                </a:solidFill>
                <a:latin typeface="Aptos"/>
              </a:defRPr>
            </a:pPr>
            <a:r>
              <a:t>• Pilot first</a:t>
            </a:r>
          </a:p>
          <a:p>
            <a:pPr>
              <a:spcAft>
                <a:spcPts val="1500"/>
              </a:spcAft>
              <a:defRPr sz="2200">
                <a:solidFill>
                  <a:srgbClr val="394C46"/>
                </a:solidFill>
                <a:latin typeface="Aptos"/>
              </a:defRPr>
            </a:pPr>
            <a:r>
              <a:t>• Validate with one group.</a:t>
            </a:r>
          </a:p>
          <a:p>
            <a:pPr>
              <a:spcAft>
                <a:spcPts val="1500"/>
              </a:spcAft>
              <a:defRPr sz="2200">
                <a:solidFill>
                  <a:srgbClr val="394C46"/>
                </a:solidFill>
                <a:latin typeface="Aptos"/>
              </a:defRPr>
            </a:pPr>
            <a:r>
              <a:t>• Risk: Slower reach.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008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000">
                <a:solidFill>
                  <a:srgbClr val="487B6C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100">
                <a:solidFill>
                  <a:srgbClr val="487B6C"/>
                </a:solidFill>
                <a:latin typeface="Aptos"/>
              </a:defRPr>
            </a:pPr>
            <a:r>
              <a:t>ATLAS / COMPANY WORKSPACE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3400">
                <a:solidFill>
                  <a:srgbClr val="193F35"/>
                </a:solidFill>
                <a:latin typeface="Aptos"/>
              </a:defRPr>
            </a:pPr>
            <a:r>
              <a:t>Approval and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200">
                <a:solidFill>
                  <a:srgbClr val="394C46"/>
                </a:solidFill>
                <a:latin typeface="Aptos"/>
              </a:defRPr>
            </a:pPr>
            <a:r>
              <a:t>• Validate assumptions and budget</a:t>
            </a:r>
          </a:p>
          <a:p>
            <a:pPr>
              <a:spcAft>
                <a:spcPts val="1500"/>
              </a:spcAft>
              <a:defRPr sz="2200">
                <a:solidFill>
                  <a:srgbClr val="394C46"/>
                </a:solidFill>
                <a:latin typeface="Aptos"/>
              </a:defRPr>
            </a:pPr>
            <a:r>
              <a:t>• Assign owner and due date</a:t>
            </a:r>
          </a:p>
          <a:p>
            <a:pPr>
              <a:spcAft>
                <a:spcPts val="1500"/>
              </a:spcAft>
              <a:defRPr sz="2200">
                <a:solidFill>
                  <a:srgbClr val="394C46"/>
                </a:solidFill>
                <a:latin typeface="Aptos"/>
              </a:defRPr>
            </a:pPr>
            <a:r>
              <a:t>• Approve before external commitments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008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000">
                <a:solidFill>
                  <a:srgbClr val="487B6C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